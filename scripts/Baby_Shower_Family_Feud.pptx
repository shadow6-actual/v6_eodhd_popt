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7010400" cy="929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D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1848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4360" tIns="52180" rIns="104360" bIns="52180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4360" tIns="52180" rIns="104360" bIns="52180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4360" tIns="52180" rIns="104360" bIns="52180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4360" tIns="52180" rIns="104360" bIns="52180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4360" tIns="52180" rIns="104360" bIns="52180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4360" tIns="52180" rIns="104360" bIns="52180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4360" tIns="52180" rIns="104360" bIns="52180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4360" tIns="52180" rIns="104360" bIns="52180"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4360" tIns="52180" rIns="104360" bIns="52180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4360" tIns="52180" rIns="104360" bIns="52180"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38615-E5C3-2E87-4BE6-60DA08452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CA452B-424F-2882-7A28-E6EA1BB76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837C50-60B5-9E64-A873-1FA073685F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04360" tIns="52180" rIns="104360" bIns="52180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CF4E3-22BF-15D9-DE86-30240D1D78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104360" tIns="52180" rIns="104360" bIns="52180"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8572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3CE74-1A69-EFF7-E8C7-5DF639F51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B5BDBD-FD2B-8D9A-2FCC-CF5EC15936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043417-552A-C2DB-7939-56837FE58A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04360" tIns="52180" rIns="104360" bIns="52180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6444A4-F002-7498-0377-A262B2CD12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104360" tIns="52180" rIns="104360" bIns="52180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0181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F8C99-2647-4A29-1A18-37B4DD0D9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6CB43F-C66C-EBB1-266D-C427C3F560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D48B1F-71A9-400F-016E-EB7E886AA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04360" tIns="52180" rIns="104360" bIns="52180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A26D9-BEA6-A5EA-85DD-E579904E1B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104360" tIns="52180" rIns="104360" bIns="52180"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788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BA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BABY SHOWER FAMILY FEUD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FFD166"/>
                </a:solidFill>
              </a:rPr>
              <a:t>Church Small Group Edition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Press → to begin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BA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chemeClr val="bg1"/>
                </a:solidFill>
              </a:rPr>
              <a:t>QUESTION 1: </a:t>
            </a:r>
            <a:r>
              <a:rPr lang="en-US" sz="20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Name something you'll find in a DIAPER BAG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86041"/>
              </p:ext>
            </p:extLst>
          </p:nvPr>
        </p:nvGraphicFramePr>
        <p:xfrm>
          <a:off x="907312" y="828632"/>
          <a:ext cx="7315200" cy="4023360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ANSWER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POINTS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Diapers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30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Wipes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25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Bottles/Formula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15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Change of clothes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10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Pacifier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8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Diaper cream/ointment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5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Snacks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3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Toys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2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Blanket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1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Hand sanitizer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1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17D227CF-0678-7FC7-A02A-1615E3BDEF0D}"/>
              </a:ext>
            </a:extLst>
          </p:cNvPr>
          <p:cNvSpPr/>
          <p:nvPr/>
        </p:nvSpPr>
        <p:spPr>
          <a:xfrm>
            <a:off x="772633" y="1197935"/>
            <a:ext cx="5628167" cy="36859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4BE880-040B-C5DB-1ED8-204B3A9B2E3C}"/>
              </a:ext>
            </a:extLst>
          </p:cNvPr>
          <p:cNvSpPr/>
          <p:nvPr/>
        </p:nvSpPr>
        <p:spPr>
          <a:xfrm>
            <a:off x="907312" y="1566530"/>
            <a:ext cx="5493488" cy="368595"/>
          </a:xfrm>
          <a:prstGeom prst="rect">
            <a:avLst/>
          </a:prstGeom>
          <a:solidFill>
            <a:srgbClr val="FF6D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4EA9C7-3D50-9394-D8AA-19E869BF96EF}"/>
              </a:ext>
            </a:extLst>
          </p:cNvPr>
          <p:cNvSpPr/>
          <p:nvPr/>
        </p:nvSpPr>
        <p:spPr>
          <a:xfrm>
            <a:off x="772633" y="1936007"/>
            <a:ext cx="5628167" cy="36859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02E7D6-5CFC-29A8-F714-F99F39036A2E}"/>
              </a:ext>
            </a:extLst>
          </p:cNvPr>
          <p:cNvSpPr/>
          <p:nvPr/>
        </p:nvSpPr>
        <p:spPr>
          <a:xfrm>
            <a:off x="921488" y="2296632"/>
            <a:ext cx="5493488" cy="368595"/>
          </a:xfrm>
          <a:prstGeom prst="rect">
            <a:avLst/>
          </a:prstGeom>
          <a:solidFill>
            <a:srgbClr val="FF6D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4EB389-5226-0D19-EE60-7D9278211294}"/>
              </a:ext>
            </a:extLst>
          </p:cNvPr>
          <p:cNvSpPr/>
          <p:nvPr/>
        </p:nvSpPr>
        <p:spPr>
          <a:xfrm>
            <a:off x="907312" y="4483397"/>
            <a:ext cx="5493488" cy="368595"/>
          </a:xfrm>
          <a:prstGeom prst="rect">
            <a:avLst/>
          </a:prstGeom>
          <a:solidFill>
            <a:srgbClr val="FF6D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7DBA82-1CB8-E93B-9C9A-42B1A98A2500}"/>
              </a:ext>
            </a:extLst>
          </p:cNvPr>
          <p:cNvSpPr/>
          <p:nvPr/>
        </p:nvSpPr>
        <p:spPr>
          <a:xfrm>
            <a:off x="772633" y="4114802"/>
            <a:ext cx="5628167" cy="36859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A38758-F3B2-188F-98F3-39F3B4F225BE}"/>
              </a:ext>
            </a:extLst>
          </p:cNvPr>
          <p:cNvSpPr/>
          <p:nvPr/>
        </p:nvSpPr>
        <p:spPr>
          <a:xfrm>
            <a:off x="907312" y="3746207"/>
            <a:ext cx="5493488" cy="368595"/>
          </a:xfrm>
          <a:prstGeom prst="rect">
            <a:avLst/>
          </a:prstGeom>
          <a:solidFill>
            <a:srgbClr val="FF6D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45CBA6-AA49-3020-BFFB-C6A99A350AE3}"/>
              </a:ext>
            </a:extLst>
          </p:cNvPr>
          <p:cNvSpPr/>
          <p:nvPr/>
        </p:nvSpPr>
        <p:spPr>
          <a:xfrm>
            <a:off x="772633" y="3382925"/>
            <a:ext cx="5628167" cy="36859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ABE709-5B31-AF0A-D0DA-1B2E537177A1}"/>
              </a:ext>
            </a:extLst>
          </p:cNvPr>
          <p:cNvSpPr/>
          <p:nvPr/>
        </p:nvSpPr>
        <p:spPr>
          <a:xfrm>
            <a:off x="907312" y="3009017"/>
            <a:ext cx="5493488" cy="368595"/>
          </a:xfrm>
          <a:prstGeom prst="rect">
            <a:avLst/>
          </a:prstGeom>
          <a:solidFill>
            <a:srgbClr val="FF6D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25778F-4AFC-437D-4587-391893B90971}"/>
              </a:ext>
            </a:extLst>
          </p:cNvPr>
          <p:cNvSpPr/>
          <p:nvPr/>
        </p:nvSpPr>
        <p:spPr>
          <a:xfrm>
            <a:off x="772633" y="2648392"/>
            <a:ext cx="5613991" cy="36859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BA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chemeClr val="bg1"/>
                </a:solidFill>
              </a:rPr>
              <a:t>QUESTION 2:</a:t>
            </a:r>
            <a:r>
              <a:rPr lang="en-US" sz="2000" b="1" dirty="0"/>
              <a:t> Name a reason a BABY CRIES</a:t>
            </a:r>
          </a:p>
        </p:txBody>
      </p:sp>
      <p:graphicFrame>
        <p:nvGraphicFramePr>
          <p:cNvPr id="16" name="Table 0">
            <a:extLst>
              <a:ext uri="{FF2B5EF4-FFF2-40B4-BE49-F238E27FC236}">
                <a16:creationId xmlns:a16="http://schemas.microsoft.com/office/drawing/2014/main" id="{0CCF1752-FC5B-C987-BB33-323B3DFBF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528539"/>
              </p:ext>
            </p:extLst>
          </p:nvPr>
        </p:nvGraphicFramePr>
        <p:xfrm>
          <a:off x="914400" y="828636"/>
          <a:ext cx="7315200" cy="4023360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ANSWER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POINTS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Hungry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35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Needs diaper change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25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Tired/sleepy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15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Wants to be held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8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Too hot/cold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6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Gassy/tummy ache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4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Teething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3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Sick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2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Overstimulated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1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Bored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1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3903A67A-7F14-EF11-3F29-E3A430E00647}"/>
              </a:ext>
            </a:extLst>
          </p:cNvPr>
          <p:cNvSpPr/>
          <p:nvPr/>
        </p:nvSpPr>
        <p:spPr>
          <a:xfrm>
            <a:off x="772633" y="1197935"/>
            <a:ext cx="5628167" cy="368595"/>
          </a:xfrm>
          <a:prstGeom prst="rect">
            <a:avLst/>
          </a:prstGeom>
          <a:solidFill>
            <a:srgbClr val="FF6D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43C6B7-7106-DFF6-E8F1-CE45E58A0984}"/>
              </a:ext>
            </a:extLst>
          </p:cNvPr>
          <p:cNvSpPr/>
          <p:nvPr/>
        </p:nvSpPr>
        <p:spPr>
          <a:xfrm>
            <a:off x="907312" y="1566530"/>
            <a:ext cx="5493488" cy="36859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E89E4C-E734-C5FF-D9E2-CFB6C963C67C}"/>
              </a:ext>
            </a:extLst>
          </p:cNvPr>
          <p:cNvSpPr/>
          <p:nvPr/>
        </p:nvSpPr>
        <p:spPr>
          <a:xfrm>
            <a:off x="772633" y="1936007"/>
            <a:ext cx="5628167" cy="368595"/>
          </a:xfrm>
          <a:prstGeom prst="rect">
            <a:avLst/>
          </a:prstGeom>
          <a:solidFill>
            <a:srgbClr val="FF6D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2BA54F-EEAD-06E5-9D9A-DF55A5FF8FA0}"/>
              </a:ext>
            </a:extLst>
          </p:cNvPr>
          <p:cNvSpPr/>
          <p:nvPr/>
        </p:nvSpPr>
        <p:spPr>
          <a:xfrm>
            <a:off x="907312" y="2296632"/>
            <a:ext cx="5493488" cy="36859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D31AE8-0072-7C81-2552-D529FD6AB262}"/>
              </a:ext>
            </a:extLst>
          </p:cNvPr>
          <p:cNvSpPr/>
          <p:nvPr/>
        </p:nvSpPr>
        <p:spPr>
          <a:xfrm>
            <a:off x="907312" y="4483397"/>
            <a:ext cx="5493488" cy="36859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30F10F-10B1-3840-86FB-84DE61494FAA}"/>
              </a:ext>
            </a:extLst>
          </p:cNvPr>
          <p:cNvSpPr/>
          <p:nvPr/>
        </p:nvSpPr>
        <p:spPr>
          <a:xfrm>
            <a:off x="772633" y="4114802"/>
            <a:ext cx="5628167" cy="368595"/>
          </a:xfrm>
          <a:prstGeom prst="rect">
            <a:avLst/>
          </a:prstGeom>
          <a:solidFill>
            <a:srgbClr val="FF6D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6EABA5-2455-21BA-318C-6712301D3216}"/>
              </a:ext>
            </a:extLst>
          </p:cNvPr>
          <p:cNvSpPr/>
          <p:nvPr/>
        </p:nvSpPr>
        <p:spPr>
          <a:xfrm>
            <a:off x="907312" y="3746207"/>
            <a:ext cx="5493488" cy="36859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B04452-4F27-381F-B4B5-6AB95A843855}"/>
              </a:ext>
            </a:extLst>
          </p:cNvPr>
          <p:cNvSpPr/>
          <p:nvPr/>
        </p:nvSpPr>
        <p:spPr>
          <a:xfrm>
            <a:off x="772633" y="3382925"/>
            <a:ext cx="5628167" cy="368595"/>
          </a:xfrm>
          <a:prstGeom prst="rect">
            <a:avLst/>
          </a:prstGeom>
          <a:solidFill>
            <a:srgbClr val="FF6D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636D13-8F23-E657-0500-E90CB0FAABFA}"/>
              </a:ext>
            </a:extLst>
          </p:cNvPr>
          <p:cNvSpPr/>
          <p:nvPr/>
        </p:nvSpPr>
        <p:spPr>
          <a:xfrm>
            <a:off x="907312" y="3009017"/>
            <a:ext cx="5493488" cy="36859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12D174-DF3D-0B28-9568-CD6AC6285390}"/>
              </a:ext>
            </a:extLst>
          </p:cNvPr>
          <p:cNvSpPr/>
          <p:nvPr/>
        </p:nvSpPr>
        <p:spPr>
          <a:xfrm>
            <a:off x="772633" y="2648392"/>
            <a:ext cx="5613991" cy="368595"/>
          </a:xfrm>
          <a:prstGeom prst="rect">
            <a:avLst/>
          </a:prstGeom>
          <a:solidFill>
            <a:srgbClr val="FF6D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BA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QUESTION 3: </a:t>
            </a:r>
            <a:r>
              <a:rPr lang="en-US" sz="2000" b="1" dirty="0"/>
              <a:t>Name something parents LOSE SLEEP over in the FIRST YEAR</a:t>
            </a:r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D0BC937A-DC47-9340-9F9B-6D385E163C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422012"/>
              </p:ext>
            </p:extLst>
          </p:nvPr>
        </p:nvGraphicFramePr>
        <p:xfrm>
          <a:off x="914400" y="821546"/>
          <a:ext cx="7315200" cy="4023360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ANSWER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POINTS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Night feedings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30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Baby crying/fussing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20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Diaper changes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15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Worry about baby's health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12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Baby won't sleep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10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Teething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5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Growth spurts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4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Checking on baby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2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Baby milestones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1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Noise from baby monitor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1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3216851F-EA27-0AEB-E6D0-15A758EB516B}"/>
              </a:ext>
            </a:extLst>
          </p:cNvPr>
          <p:cNvSpPr/>
          <p:nvPr/>
        </p:nvSpPr>
        <p:spPr>
          <a:xfrm>
            <a:off x="772633" y="1197935"/>
            <a:ext cx="5628167" cy="36859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08D8B5-89FB-C094-EE70-DBECE9172037}"/>
              </a:ext>
            </a:extLst>
          </p:cNvPr>
          <p:cNvSpPr/>
          <p:nvPr/>
        </p:nvSpPr>
        <p:spPr>
          <a:xfrm>
            <a:off x="907312" y="1566530"/>
            <a:ext cx="5493488" cy="368595"/>
          </a:xfrm>
          <a:prstGeom prst="rect">
            <a:avLst/>
          </a:prstGeom>
          <a:solidFill>
            <a:srgbClr val="FF6D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F713BA-BD2E-E83A-0447-60874E6FB7A2}"/>
              </a:ext>
            </a:extLst>
          </p:cNvPr>
          <p:cNvSpPr/>
          <p:nvPr/>
        </p:nvSpPr>
        <p:spPr>
          <a:xfrm>
            <a:off x="772633" y="1936007"/>
            <a:ext cx="5628167" cy="36859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8DDB97-2E7D-CD4F-EA21-03F703B7F09E}"/>
              </a:ext>
            </a:extLst>
          </p:cNvPr>
          <p:cNvSpPr/>
          <p:nvPr/>
        </p:nvSpPr>
        <p:spPr>
          <a:xfrm>
            <a:off x="907312" y="2296632"/>
            <a:ext cx="5493488" cy="368595"/>
          </a:xfrm>
          <a:prstGeom prst="rect">
            <a:avLst/>
          </a:prstGeom>
          <a:solidFill>
            <a:srgbClr val="FF6D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6E807A-A0E8-D949-4852-3B56B6872A95}"/>
              </a:ext>
            </a:extLst>
          </p:cNvPr>
          <p:cNvSpPr/>
          <p:nvPr/>
        </p:nvSpPr>
        <p:spPr>
          <a:xfrm>
            <a:off x="907312" y="4483397"/>
            <a:ext cx="5493488" cy="368595"/>
          </a:xfrm>
          <a:prstGeom prst="rect">
            <a:avLst/>
          </a:prstGeom>
          <a:solidFill>
            <a:srgbClr val="FF6D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152FEF-D1DD-B087-3D4B-8EDA9A20A654}"/>
              </a:ext>
            </a:extLst>
          </p:cNvPr>
          <p:cNvSpPr/>
          <p:nvPr/>
        </p:nvSpPr>
        <p:spPr>
          <a:xfrm>
            <a:off x="772633" y="4114802"/>
            <a:ext cx="5628167" cy="36859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EA6EF1-22E0-8052-5C56-27CF82D6BA8E}"/>
              </a:ext>
            </a:extLst>
          </p:cNvPr>
          <p:cNvSpPr/>
          <p:nvPr/>
        </p:nvSpPr>
        <p:spPr>
          <a:xfrm>
            <a:off x="907312" y="3746207"/>
            <a:ext cx="5493488" cy="368595"/>
          </a:xfrm>
          <a:prstGeom prst="rect">
            <a:avLst/>
          </a:prstGeom>
          <a:solidFill>
            <a:srgbClr val="FF6D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8517B7-D691-5317-EDDE-7BED7FE20D2B}"/>
              </a:ext>
            </a:extLst>
          </p:cNvPr>
          <p:cNvSpPr/>
          <p:nvPr/>
        </p:nvSpPr>
        <p:spPr>
          <a:xfrm>
            <a:off x="772633" y="3382925"/>
            <a:ext cx="5628167" cy="36859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33A5B4-2EF9-17F5-548B-71D6C4F681DC}"/>
              </a:ext>
            </a:extLst>
          </p:cNvPr>
          <p:cNvSpPr/>
          <p:nvPr/>
        </p:nvSpPr>
        <p:spPr>
          <a:xfrm>
            <a:off x="907312" y="3009017"/>
            <a:ext cx="5493488" cy="368595"/>
          </a:xfrm>
          <a:prstGeom prst="rect">
            <a:avLst/>
          </a:prstGeom>
          <a:solidFill>
            <a:srgbClr val="FF6D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9E01BF-B9A7-D123-47B0-6BC89B977A62}"/>
              </a:ext>
            </a:extLst>
          </p:cNvPr>
          <p:cNvSpPr/>
          <p:nvPr/>
        </p:nvSpPr>
        <p:spPr>
          <a:xfrm>
            <a:off x="772633" y="2648392"/>
            <a:ext cx="5613991" cy="36859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BA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SCORE SHEET</a:t>
            </a:r>
            <a:endParaRPr lang="en-US" sz="4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011680"/>
          <a:ext cx="8229600" cy="12801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b="1" dirty="0">
                          <a:solidFill>
                            <a:srgbClr val="1B263B"/>
                          </a:solidFill>
                        </a:rPr>
                        <a:t>Team Name</a:t>
                      </a:r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b="1" dirty="0">
                          <a:solidFill>
                            <a:srgbClr val="1B263B"/>
                          </a:solidFill>
                        </a:rPr>
                        <a:t>Q1</a:t>
                      </a:r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b="1" dirty="0">
                          <a:solidFill>
                            <a:srgbClr val="1B263B"/>
                          </a:solidFill>
                        </a:rPr>
                        <a:t>Q2</a:t>
                      </a:r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b="1" dirty="0">
                          <a:solidFill>
                            <a:srgbClr val="1B263B"/>
                          </a:solidFill>
                        </a:rPr>
                        <a:t>Q3</a:t>
                      </a:r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b="1" dirty="0">
                          <a:solidFill>
                            <a:srgbClr val="1B263B"/>
                          </a:solidFill>
                        </a:rPr>
                        <a:t>TOTAL</a:t>
                      </a:r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b="1" dirty="0">
                          <a:solidFill>
                            <a:srgbClr val="1B263B"/>
                          </a:solidFill>
                        </a:rPr>
                        <a:t>Team 1: ___________</a:t>
                      </a:r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b="1" dirty="0">
                          <a:solidFill>
                            <a:srgbClr val="1B263B"/>
                          </a:solidFill>
                        </a:rPr>
                        <a:t>Team 2: ___________</a:t>
                      </a:r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E7A92-C0C4-49D5-C491-40085DE16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FAF61BA-F222-9F12-08B6-233E6324A524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BA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170D02F-9451-15AE-A7EB-2A332DD8113B}"/>
              </a:ext>
            </a:extLst>
          </p:cNvPr>
          <p:cNvSpPr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chemeClr val="bg1"/>
                </a:solidFill>
              </a:rPr>
              <a:t>QUESTION 1: </a:t>
            </a:r>
            <a:r>
              <a:rPr lang="en-US" sz="20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Name something you'll find in a DIAPER BAG</a:t>
            </a:r>
            <a:endParaRPr lang="en-US" sz="2000" dirty="0"/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1CBE513E-2EC3-15A5-6D21-F5CD36163010}"/>
              </a:ext>
            </a:extLst>
          </p:cNvPr>
          <p:cNvGraphicFramePr>
            <a:graphicFrameLocks noGrp="1"/>
          </p:cNvGraphicFramePr>
          <p:nvPr/>
        </p:nvGraphicFramePr>
        <p:xfrm>
          <a:off x="907312" y="828632"/>
          <a:ext cx="7315200" cy="4023360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ANSWER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POINTS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Diapers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30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Wipes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25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Bottles/Formula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15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Change of clothes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10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Pacifier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8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Diaper cream/ointment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5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Snacks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3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Toys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2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Blanket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1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Hand sanitizer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1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3569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3EBAB-1E8E-767A-2E03-62A2B1FC6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675ED2B-B4C1-2717-E64B-7315288E7E36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BA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0145D90-B069-5F7D-641E-CB34834F4DC8}"/>
              </a:ext>
            </a:extLst>
          </p:cNvPr>
          <p:cNvSpPr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chemeClr val="bg1"/>
                </a:solidFill>
              </a:rPr>
              <a:t>QUESTION 2:</a:t>
            </a:r>
            <a:r>
              <a:rPr lang="en-US" sz="2000" b="1" dirty="0"/>
              <a:t> Name a reason a BABY CRIES</a:t>
            </a:r>
          </a:p>
        </p:txBody>
      </p:sp>
      <p:graphicFrame>
        <p:nvGraphicFramePr>
          <p:cNvPr id="16" name="Table 0">
            <a:extLst>
              <a:ext uri="{FF2B5EF4-FFF2-40B4-BE49-F238E27FC236}">
                <a16:creationId xmlns:a16="http://schemas.microsoft.com/office/drawing/2014/main" id="{CFC6305A-F9DD-704C-8F30-BD4B8832FED6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828636"/>
          <a:ext cx="7315200" cy="4023360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ANSWER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POINTS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Hungry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35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Needs diaper change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25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Tired/sleepy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15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Wants to be held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8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Too hot/cold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6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Gassy/tummy ache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4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Teething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3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Sick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2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Overstimulated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1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Bored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1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2731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F9DEF-58FF-8484-071D-8A3D27445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40A05F4-B38B-0F16-6238-DA40BA941E6C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BA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DE9AFD1-DA7C-FE02-3CE8-4206D9E89680}"/>
              </a:ext>
            </a:extLst>
          </p:cNvPr>
          <p:cNvSpPr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QUESTION 3: </a:t>
            </a:r>
            <a:r>
              <a:rPr lang="en-US" sz="2000" b="1" dirty="0"/>
              <a:t>Name something parents LOSE SLEEP over in the FIRST YEAR</a:t>
            </a:r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85D87C72-A836-C305-62D3-EC2681935594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821546"/>
          <a:ext cx="7315200" cy="4023360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ANSWER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POINTS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Night feedings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30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Baby crying/fussing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20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Diaper changes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15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Worry about baby's health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12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Baby won't sleep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10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Teething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5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Growth spurts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4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Checking on baby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2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Baby milestones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1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Noise from baby monitor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B263B"/>
                          </a:solidFill>
                        </a:rPr>
                        <a:t>1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9564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311</Words>
  <Application>Microsoft Office PowerPoint</Application>
  <PresentationFormat>On-screen Show (16:9)</PresentationFormat>
  <Paragraphs>157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james thompson</cp:lastModifiedBy>
  <cp:revision>3</cp:revision>
  <cp:lastPrinted>2025-11-16T18:16:23Z</cp:lastPrinted>
  <dcterms:created xsi:type="dcterms:W3CDTF">2025-11-16T18:06:44Z</dcterms:created>
  <dcterms:modified xsi:type="dcterms:W3CDTF">2025-11-16T18:16:34Z</dcterms:modified>
</cp:coreProperties>
</file>